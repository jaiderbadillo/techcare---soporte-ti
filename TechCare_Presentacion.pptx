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377440"/>
            <a:ext cx="54864" cy="2103120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8720" y="1371600"/>
            <a:ext cx="9784080" cy="4572000"/>
          </a:xfrm>
          <a:prstGeom prst="rect">
            <a:avLst/>
          </a:prstGeom>
          <a:solidFill>
            <a:srgbClr val="22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8720" y="1371600"/>
            <a:ext cx="9784080" cy="91440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A0"/>
                </a:solidFill>
              </a:rPr>
              <a:t>PROYECTO DE DESARROLLO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TECHCARE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0B4FF"/>
                </a:solidFill>
              </a:rPr>
              <a:t>Sistema de Solicitudes al Área de 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3429000"/>
            <a:ext cx="8229600" cy="22860"/>
          </a:xfrm>
          <a:prstGeom prst="rect">
            <a:avLst/>
          </a:prstGeom>
          <a:solidFill>
            <a:srgbClr val="3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A0"/>
                </a:solidFill>
              </a:rPr>
              <a:t>Presentado por: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58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Jaider Niño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Juan Camilo Pinzón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5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Wilson Forero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74920"/>
            <a:ext cx="8686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100" dirty="0">
                <a:solidFill>
                  <a:srgbClr val="556581"/>
                </a:solidFill>
              </a:rPr>
              <a:t>NUEVAS TECNOLOGIAS DE DESARROLLO</a:t>
            </a:r>
            <a:endParaRPr sz="1100" b="0" i="0" dirty="0">
              <a:solidFill>
                <a:srgbClr val="55658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515600" y="5943600"/>
            <a:ext cx="201168" cy="201168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35640" y="5943600"/>
            <a:ext cx="201168" cy="201168"/>
          </a:xfrm>
          <a:prstGeom prst="ellipse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55680" y="5943600"/>
            <a:ext cx="201168" cy="201168"/>
          </a:xfrm>
          <a:prstGeom prst="ellipse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|  Planteamiento del Problema y Propuesta de 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035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⚠  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2316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Las solicitudes de soporte TI se gestionan
    por correo, WhatsApp o de forma verbal.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36391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No existe trazabilidad ni historial de
    incidentes reportados.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49624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Los técnicos no tienen visibilidad del
    volumen real de incidentes por área.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6285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Los tiempos de respuesta son inconsistentes
    y no se puede medir el desempeño.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76088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Las empresas cliente no tienen acceso al
    estado de sus solicitudes.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94960" cy="73152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✔  Nuestra 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4231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Plataforma web centralizada para radicar,
    clasificar y hacer seguimiento de tickets.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136391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Portal exclusivo para usuarios clientes
    con historial y diagnósticos de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8496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Panel directivo con métricas y KPIs
    en tiempo real para jefes de TI.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56285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Diagnóstico técnico asistido por
    inteligencia artificial (Gemini + Local).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527608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 Control de acceso por roles: clientes,
    técnicos y administradores.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|  Requerimientos Funcionales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7099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659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Registro y Autenticación de Usuarios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33172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El sistema permitirá registrar usuarios con nombre, correo,
empresa, cargo y contraseña (cifrado BCRYPT). Soporte para
roles: Cliente, Técnico y Administrador.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7099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Radicación de Solicitudes de Soporte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3172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Los usuarios podrán crear tickets con asunto, categoría
(Software, Redes, Hardware, Seguridad, Cloud, BD), nivel
de criticidad y descripción detallada.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6002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60020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76488" y="17099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19659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Consulta de Historial de Solicitudes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33172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Cada usuario cliente tendrá acceso a sus tickets con
estado en tiempo real (Pendiente / En Proceso / Resuelto)
y el diagnóstico emitido por el equipo de TI.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6052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16052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" y="4270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5262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Gestión y Actualización de Tickets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89204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Los técnicos y administradores podrán actualizar estados,
asignar técnicos responsables y filtrar solicitudes por
categoría, criticidad o estado desde el dashboard.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16052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416052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8" y="4270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5262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Diagnóstico Técnico con Inteligencia Artificial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89204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El sistema generará diagnósticos automáticos con causas
raíz, plan paso a paso y comandos sugeridos usando un
motor local (offline) y Google Gemini API (cloud).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416052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0" y="4160520"/>
            <a:ext cx="3931920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76488" y="4270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A0"/>
                </a:solidFill>
              </a:rPr>
              <a:t>RF-06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45262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Panel Directivo con Métricas y KPIs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4892040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Se mostrará un dashboard analítico con volumen de tickets,
tasa de resolución, distribución por categoría, tendencias
mensuales y dictámenes de decisiones estratégicas de TI.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|  Arquitectura de la Solución — Patrón MVC + Servicios de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291840" cy="4663440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291840" cy="73152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VISTA  (View)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317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Interfaces web del usuario:
• Portal de radicación de tickets
• Panel directivo con KPIs
• Módulo de login y registro
• Modal de diagnóstico con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3657600" cy="466344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645920"/>
            <a:ext cx="3657600" cy="73152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CONTROLADOR  (Controller)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33172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Lógica de aplicación:
• AuthController — Sesiones y roles
• TicketController — CRUD solicitudes
• IAController — Despacho de IA
• Front Controller (enrutador único)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45920"/>
            <a:ext cx="365760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3657600" cy="73152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MODELO  (Model) +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3172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Acceso a datos:
• User.php — Usuarios y autenticación
• Ticket.php — Solicitudes y métricas
• MySQL/MariaDB (soporte_db)
• Tablas: usuarios, solicitudes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A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19088"/>
            <a:ext cx="11292840" cy="301752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2A0"/>
                </a:solidFill>
              </a:rPr>
              <a:t>  IA: Motor Experto Local (0 Tokens / Offline)  ◆  Google Gemini Flash API (Cloud, bajo demanda)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080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Modelo Relacional de la 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4937760" cy="438912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TABLA:  usuarios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49377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756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INT AUTO_INCREMENT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7568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Identificador único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493776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5237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nombre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237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2374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Nombre completo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35224"/>
            <a:ext cx="49377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718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email (UK)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Correo — clave de acceso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493776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4198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VARCHAR(255)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4198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Hash BCRYPT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31335"/>
            <a:ext cx="49377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8679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empresa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867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VARCHAR(150)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6791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Empresa del usuario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79392"/>
            <a:ext cx="493776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3159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cargo_empresa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3159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1596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Cargo dentro de la empresa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27448"/>
            <a:ext cx="49377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764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7640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ENUM(admin/tecnico/cliente)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7640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Nivel de acceso RBAC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75504"/>
            <a:ext cx="493776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21207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activo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21207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TINYINT(1)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21207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Estado: 1 activo, 0 inactivo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23560"/>
            <a:ext cx="493776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6601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fecha_creacion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6601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DATETIME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566013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Timestamp de registro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60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5EEC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97763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81"/>
                </a:solidFill>
              </a:rPr>
              <a:t>──────────
  radica
──────────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160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A0"/>
                </a:solidFill>
              </a:rPr>
              <a:t>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1600200"/>
            <a:ext cx="45720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69480" y="1627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TABLA:  solicitudes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039112"/>
            <a:ext cx="45720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69480" y="20756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id (PK)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20756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INT AUTO_INCREMENT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207568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Nº de ticket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2487168"/>
            <a:ext cx="457200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2523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usuario_id (FK)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25237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252374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→ usuarios.id (SET NULL)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2935224"/>
            <a:ext cx="45720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69480" y="2971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nombre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29718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VARCHAR(100)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29718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Solicitante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3383280"/>
            <a:ext cx="457200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69480" y="3419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email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80" y="341985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VARCHAR(150)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341985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Correo de contacto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3831335"/>
            <a:ext cx="45720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9480" y="3867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empresa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1080" y="386791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VARCHAR(150)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38679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Empresa del solicitante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23760" y="4279392"/>
            <a:ext cx="457200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269480" y="4315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tipo_problema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1080" y="43159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ENUM(6 valores)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431596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Categoría técnica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23760" y="4727448"/>
            <a:ext cx="45720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269480" y="4764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prioridad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4764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ENUM(baja/media/alta/critica)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47640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Urgencia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5175504"/>
            <a:ext cx="4572000" cy="44805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269480" y="52120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estado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41080" y="5212079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ENUM(pend./proceso/res.)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5212079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Ciclo de vida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23760" y="5623560"/>
            <a:ext cx="457200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269480" y="56601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solucion_ia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41080" y="566013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TEXT (JSON)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566013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1"/>
                </a:solidFill>
              </a:rPr>
              <a:t>Diagnóstico de 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|  Stack Tecnológico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11880" cy="73152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8105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PHP 8.x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04288"/>
            <a:ext cx="33375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Lenguaje backend principal.
Front Controller, Controladores MVC,
Modelos Active Record y Servicios de IA.
Sin frameworks externos.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645920"/>
            <a:ext cx="3611880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810512"/>
            <a:ext cx="34747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18105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828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MySQL / MariaDB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304288"/>
            <a:ext cx="33375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6581"/>
                </a:solidFill>
              </a:rPr>
              <a:t>Base de </a:t>
            </a:r>
            <a:r>
              <a:rPr sz="1100" b="0" i="0" dirty="0" err="1">
                <a:solidFill>
                  <a:srgbClr val="556581"/>
                </a:solidFill>
              </a:rPr>
              <a:t>datos</a:t>
            </a:r>
            <a:r>
              <a:rPr sz="1100" b="0" i="0" dirty="0">
                <a:solidFill>
                  <a:srgbClr val="556581"/>
                </a:solidFill>
              </a:rPr>
              <a:t> </a:t>
            </a:r>
            <a:r>
              <a:rPr sz="1100" b="0" i="0" dirty="0" err="1">
                <a:solidFill>
                  <a:srgbClr val="556581"/>
                </a:solidFill>
              </a:rPr>
              <a:t>relacional</a:t>
            </a:r>
            <a:r>
              <a:rPr sz="1100" b="0" i="0" dirty="0">
                <a:solidFill>
                  <a:srgbClr val="556581"/>
                </a:solidFill>
              </a:rPr>
              <a:t>.
Motor </a:t>
            </a:r>
            <a:r>
              <a:rPr sz="1100" b="0" i="0" dirty="0" err="1">
                <a:solidFill>
                  <a:srgbClr val="556581"/>
                </a:solidFill>
              </a:rPr>
              <a:t>InnoDB</a:t>
            </a:r>
            <a:r>
              <a:rPr sz="1100" b="0" i="0" dirty="0">
                <a:solidFill>
                  <a:srgbClr val="556581"/>
                </a:solidFill>
              </a:rPr>
              <a:t>, utf8mb4.
</a:t>
            </a:r>
            <a:r>
              <a:rPr sz="1100" b="0" i="0" dirty="0" err="1">
                <a:solidFill>
                  <a:srgbClr val="556581"/>
                </a:solidFill>
              </a:rPr>
              <a:t>Tablas</a:t>
            </a:r>
            <a:r>
              <a:rPr sz="1100" b="0" i="0" dirty="0">
                <a:solidFill>
                  <a:srgbClr val="556581"/>
                </a:solidFill>
              </a:rPr>
              <a:t>: </a:t>
            </a:r>
            <a:r>
              <a:rPr sz="1100" b="0" i="0" dirty="0" err="1">
                <a:solidFill>
                  <a:srgbClr val="556581"/>
                </a:solidFill>
              </a:rPr>
              <a:t>usuarios</a:t>
            </a:r>
            <a:r>
              <a:rPr sz="1100" b="0" i="0" dirty="0">
                <a:solidFill>
                  <a:srgbClr val="556581"/>
                </a:solidFill>
              </a:rPr>
              <a:t> y solicitudes.
</a:t>
            </a:r>
            <a:r>
              <a:rPr sz="1100" b="0" i="0" dirty="0" err="1">
                <a:solidFill>
                  <a:srgbClr val="556581"/>
                </a:solidFill>
              </a:rPr>
              <a:t>Conexión</a:t>
            </a:r>
            <a:r>
              <a:rPr sz="1100" b="0" i="0" dirty="0">
                <a:solidFill>
                  <a:srgbClr val="556581"/>
                </a:solidFill>
              </a:rPr>
              <a:t> multi-</a:t>
            </a:r>
            <a:r>
              <a:rPr sz="1100" b="0" i="0" dirty="0" err="1">
                <a:solidFill>
                  <a:srgbClr val="556581"/>
                </a:solidFill>
              </a:rPr>
              <a:t>puerto</a:t>
            </a:r>
            <a:r>
              <a:rPr sz="1100" b="0" i="0" dirty="0">
                <a:solidFill>
                  <a:srgbClr val="556581"/>
                </a:solidFill>
              </a:rPr>
              <a:t> (3306/3307/3308).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4464" y="16459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84464" y="1645920"/>
            <a:ext cx="3611880" cy="73152"/>
          </a:xfrm>
          <a:prstGeom prst="rect">
            <a:avLst/>
          </a:prstGeom>
          <a:solidFill>
            <a:srgbClr val="0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84464" y="1810512"/>
            <a:ext cx="347472" cy="347472"/>
          </a:xfrm>
          <a:prstGeom prst="rect">
            <a:avLst/>
          </a:prstGeom>
          <a:solidFill>
            <a:srgbClr val="0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18105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8288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HTML5 + CSS3 + JS (Vanilla)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304288"/>
            <a:ext cx="33375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6581"/>
                </a:solidFill>
              </a:rPr>
              <a:t>Frontend puro sin frameworks JS </a:t>
            </a:r>
            <a:r>
              <a:rPr sz="1100" b="0" i="0" dirty="0" err="1">
                <a:solidFill>
                  <a:srgbClr val="556581"/>
                </a:solidFill>
              </a:rPr>
              <a:t>pesados</a:t>
            </a:r>
            <a:r>
              <a:rPr sz="1100" b="0" i="0" dirty="0">
                <a:solidFill>
                  <a:srgbClr val="556581"/>
                </a:solidFill>
              </a:rPr>
              <a:t>.
Bootstrap 5.3 + Bootstrap Icons.
Chart.js 4.4 para </a:t>
            </a:r>
            <a:r>
              <a:rPr sz="1100" b="0" i="0" dirty="0" err="1">
                <a:solidFill>
                  <a:srgbClr val="556581"/>
                </a:solidFill>
              </a:rPr>
              <a:t>gráficas</a:t>
            </a:r>
            <a:r>
              <a:rPr sz="1100" b="0" i="0" dirty="0">
                <a:solidFill>
                  <a:srgbClr val="556581"/>
                </a:solidFill>
              </a:rPr>
              <a:t>.
Fetch API para </a:t>
            </a:r>
            <a:r>
              <a:rPr sz="1100" b="0" i="0" dirty="0" err="1">
                <a:solidFill>
                  <a:srgbClr val="556581"/>
                </a:solidFill>
              </a:rPr>
              <a:t>peticiones</a:t>
            </a:r>
            <a:r>
              <a:rPr sz="1100" b="0" i="0" dirty="0">
                <a:solidFill>
                  <a:srgbClr val="556581"/>
                </a:solidFill>
              </a:rPr>
              <a:t> </a:t>
            </a:r>
            <a:r>
              <a:rPr sz="1100" b="0" i="0" dirty="0" err="1">
                <a:solidFill>
                  <a:srgbClr val="556581"/>
                </a:solidFill>
              </a:rPr>
              <a:t>asíncronas</a:t>
            </a:r>
            <a:r>
              <a:rPr sz="1100" b="0" i="0" dirty="0">
                <a:solidFill>
                  <a:srgbClr val="556581"/>
                </a:solidFill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3611880" cy="73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325112"/>
            <a:ext cx="347472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43251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Google Gemini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18888"/>
            <a:ext cx="33375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IA generativa para diagnóstico cloud.
Modelo: gemini-3.7-flash.
Conexión HTTPS cURL desde PHP.
Uso bajo demanda para ahorro de tokens.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41605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70832" y="4160520"/>
            <a:ext cx="3611880" cy="73152"/>
          </a:xfrm>
          <a:prstGeom prst="rect">
            <a:avLst/>
          </a:prstGeom>
          <a:solidFill>
            <a:srgbClr val="783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70832" y="4325112"/>
            <a:ext cx="347472" cy="347472"/>
          </a:xfrm>
          <a:prstGeom prst="rect">
            <a:avLst/>
          </a:prstGeom>
          <a:solidFill>
            <a:srgbClr val="783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98264" y="43251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3434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Motor IA Local (Offline)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818888"/>
            <a:ext cx="3337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56581"/>
                </a:solidFill>
              </a:rPr>
              <a:t>Analizador</a:t>
            </a:r>
            <a:r>
              <a:rPr sz="1100" b="0" i="0" dirty="0">
                <a:solidFill>
                  <a:srgbClr val="556581"/>
                </a:solidFill>
              </a:rPr>
              <a:t> </a:t>
            </a:r>
            <a:r>
              <a:rPr sz="1100" b="0" i="0" dirty="0" err="1">
                <a:solidFill>
                  <a:srgbClr val="556581"/>
                </a:solidFill>
              </a:rPr>
              <a:t>semántico</a:t>
            </a:r>
            <a:r>
              <a:rPr sz="1100" b="0" i="0" dirty="0">
                <a:solidFill>
                  <a:srgbClr val="556581"/>
                </a:solidFill>
              </a:rPr>
              <a:t> NLP </a:t>
            </a:r>
            <a:r>
              <a:rPr sz="1100" b="0" i="0" dirty="0" err="1">
                <a:solidFill>
                  <a:srgbClr val="556581"/>
                </a:solidFill>
              </a:rPr>
              <a:t>propio</a:t>
            </a:r>
            <a:r>
              <a:rPr sz="1100" b="0" i="0" dirty="0">
                <a:solidFill>
                  <a:srgbClr val="556581"/>
                </a:solidFill>
              </a:rPr>
              <a:t>.
Sin </a:t>
            </a:r>
            <a:r>
              <a:rPr sz="1100" b="0" i="0" dirty="0" err="1">
                <a:solidFill>
                  <a:srgbClr val="556581"/>
                </a:solidFill>
              </a:rPr>
              <a:t>conexión</a:t>
            </a:r>
            <a:r>
              <a:rPr sz="1100" b="0" i="0" dirty="0">
                <a:solidFill>
                  <a:srgbClr val="556581"/>
                </a:solidFill>
              </a:rPr>
              <a:t> a internet </a:t>
            </a:r>
            <a:r>
              <a:rPr sz="1100" b="0" i="0" dirty="0" err="1">
                <a:solidFill>
                  <a:srgbClr val="556581"/>
                </a:solidFill>
              </a:rPr>
              <a:t>requerida</a:t>
            </a:r>
            <a:r>
              <a:rPr sz="1100" b="0" i="0" dirty="0">
                <a:solidFill>
                  <a:srgbClr val="556581"/>
                </a:solidFill>
              </a:rPr>
              <a:t>.
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416052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84464" y="4160520"/>
            <a:ext cx="3611880" cy="73152"/>
          </a:xfrm>
          <a:prstGeom prst="rect">
            <a:avLst/>
          </a:prstGeom>
          <a:solidFill>
            <a:srgbClr val="1E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84464" y="4325112"/>
            <a:ext cx="347472" cy="347472"/>
          </a:xfrm>
          <a:prstGeom prst="rect">
            <a:avLst/>
          </a:prstGeom>
          <a:solidFill>
            <a:srgbClr val="1E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11896" y="43251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434340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Seguridad y Sesiones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4818888"/>
            <a:ext cx="3337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556581"/>
                </a:solidFill>
              </a:rPr>
              <a:t>Cifrado</a:t>
            </a:r>
            <a:r>
              <a:rPr sz="1100" b="0" i="0" dirty="0">
                <a:solidFill>
                  <a:srgbClr val="556581"/>
                </a:solidFill>
              </a:rPr>
              <a:t> BCRYPT para </a:t>
            </a:r>
            <a:r>
              <a:rPr sz="1100" b="0" i="0" dirty="0" err="1">
                <a:solidFill>
                  <a:srgbClr val="556581"/>
                </a:solidFill>
              </a:rPr>
              <a:t>contraseñas</a:t>
            </a:r>
            <a:r>
              <a:rPr sz="1100" b="0" i="0" dirty="0">
                <a:solidFill>
                  <a:srgbClr val="556581"/>
                </a:solidFill>
              </a:rPr>
              <a:t>.
Control de </a:t>
            </a:r>
            <a:r>
              <a:rPr sz="1100" b="0" i="0" dirty="0" err="1">
                <a:solidFill>
                  <a:srgbClr val="556581"/>
                </a:solidFill>
              </a:rPr>
              <a:t>acceso</a:t>
            </a:r>
            <a:r>
              <a:rPr sz="1100" b="0" i="0" dirty="0">
                <a:solidFill>
                  <a:srgbClr val="556581"/>
                </a:solidFill>
              </a:rPr>
              <a:t> </a:t>
            </a:r>
            <a:r>
              <a:rPr sz="1100" b="0" i="0" dirty="0" err="1">
                <a:solidFill>
                  <a:srgbClr val="556581"/>
                </a:solidFill>
              </a:rPr>
              <a:t>por</a:t>
            </a:r>
            <a:r>
              <a:rPr sz="1100" b="0" i="0" dirty="0">
                <a:solidFill>
                  <a:srgbClr val="556581"/>
                </a:solidFill>
              </a:rPr>
              <a:t> roles.
PHP Sessions </a:t>
            </a:r>
            <a:r>
              <a:rPr lang="es-ES" sz="1100" b="0" i="0" dirty="0">
                <a:solidFill>
                  <a:srgbClr val="556581"/>
                </a:solidFill>
              </a:rPr>
              <a:t>para evitar </a:t>
            </a:r>
            <a:r>
              <a:rPr sz="1100" b="0" i="0" dirty="0">
                <a:solidFill>
                  <a:srgbClr val="556581"/>
                </a:solidFill>
              </a:rPr>
              <a:t> SQL Injection.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 |  Fases de Desarrollo y Beneficios Esperados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303520" cy="438912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Fases Propuestas de Desarrollo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Ingeniería de Requerimientos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Análisis, SRS, historias de usuario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5303520" cy="7040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76148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614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Diseño del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61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DER, arquitectura MVC, mockups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9856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655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Desarrollo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6557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Modelos, Controladores, BD, API 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23944"/>
            <a:ext cx="5303520" cy="7040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6966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696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Desarrollo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1696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Vistas, JS asíncrono, gráficas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28032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87375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73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Integración de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87375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Motor local + conexión Gemini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5303520" cy="70408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57784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F5EEC"/>
                </a:solidFill>
              </a:rPr>
              <a:t>Fase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5778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Pruebas y Despliegue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577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</a:rPr>
              <a:t>QA, pruebas de carga, producción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572768"/>
            <a:ext cx="5486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600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Beneficios Esperados para la Organización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011680"/>
            <a:ext cx="5486400" cy="534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202996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0482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Trazabilidad completa de todas las solicitudes TI en tiempo real.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546604"/>
            <a:ext cx="5486400" cy="534924"/>
          </a:xfrm>
          <a:prstGeom prst="rect">
            <a:avLst/>
          </a:prstGeom>
          <a:solidFill>
            <a:srgbClr val="F0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25648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5831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Reducción del tiempo de respuesta en un 40–60% gracias a la IA.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81528"/>
            <a:ext cx="5486400" cy="534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309981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1181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Portal propio para cada empresa cliente con historial propio.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616452"/>
            <a:ext cx="5486400" cy="534924"/>
          </a:xfrm>
          <a:prstGeom prst="rect">
            <a:avLst/>
          </a:prstGeom>
          <a:solidFill>
            <a:srgbClr val="F0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36347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6530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Métricas y KPIs para la toma de decisiones estratégicas de TI.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151376"/>
            <a:ext cx="5486400" cy="534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41696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187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Control de acceso seguro por roles con cifrado BCRYPT.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686300"/>
            <a:ext cx="5486400" cy="534924"/>
          </a:xfrm>
          <a:prstGeom prst="rect">
            <a:avLst/>
          </a:prstGeom>
          <a:solidFill>
            <a:srgbClr val="F0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0" y="470458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47228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Diagnóstico</a:t>
            </a:r>
            <a:r>
              <a:rPr sz="1150" b="0" i="0" dirty="0">
                <a:solidFill>
                  <a:srgbClr val="1E293B"/>
                </a:solidFill>
              </a:rPr>
              <a:t> </a:t>
            </a:r>
            <a:r>
              <a:rPr sz="1150" b="0" i="0" dirty="0" err="1">
                <a:solidFill>
                  <a:srgbClr val="1E293B"/>
                </a:solidFill>
              </a:rPr>
              <a:t>automático</a:t>
            </a:r>
            <a:r>
              <a:rPr sz="1150" b="0" i="0" dirty="0">
                <a:solidFill>
                  <a:srgbClr val="1E293B"/>
                </a:solidFill>
              </a:rPr>
              <a:t> 24/7: offline o con IA </a:t>
            </a:r>
            <a:r>
              <a:rPr sz="1150" b="0" i="0" dirty="0" err="1">
                <a:solidFill>
                  <a:srgbClr val="1E293B"/>
                </a:solidFill>
              </a:rPr>
              <a:t>generativa</a:t>
            </a:r>
            <a:r>
              <a:rPr sz="1150" b="0" i="0" dirty="0">
                <a:solidFill>
                  <a:srgbClr val="1E293B"/>
                </a:solidFill>
              </a:rPr>
              <a:t> </a:t>
            </a:r>
            <a:r>
              <a:rPr sz="1150" b="0" i="0" dirty="0" err="1">
                <a:solidFill>
                  <a:srgbClr val="1E293B"/>
                </a:solidFill>
              </a:rPr>
              <a:t>en</a:t>
            </a:r>
            <a:r>
              <a:rPr sz="1150" b="0" i="0" dirty="0">
                <a:solidFill>
                  <a:srgbClr val="1E293B"/>
                </a:solidFill>
              </a:rPr>
              <a:t> la </a:t>
            </a:r>
            <a:r>
              <a:rPr sz="1150" b="0" i="0" dirty="0" err="1">
                <a:solidFill>
                  <a:srgbClr val="1E293B"/>
                </a:solidFill>
              </a:rPr>
              <a:t>nube</a:t>
            </a:r>
            <a:r>
              <a:rPr sz="1150" b="0" i="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221224"/>
            <a:ext cx="5486400" cy="534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0" y="523951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2578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Motor IA local de 0 tokens: soporte inteligente sin costo de API.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756148"/>
            <a:ext cx="5486400" cy="534924"/>
          </a:xfrm>
          <a:prstGeom prst="rect">
            <a:avLst/>
          </a:prstGeom>
          <a:solidFill>
            <a:srgbClr val="F0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60" y="577443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57927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Interfaz responsive, moderna y accesible desde cualquier dispositivo.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1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834640"/>
            <a:ext cx="54864" cy="1371600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22860"/>
          </a:xfrm>
          <a:prstGeom prst="rect">
            <a:avLst/>
          </a:prstGeom>
          <a:solidFill>
            <a:srgbClr val="2F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TECHCARE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B4FF"/>
                </a:solidFill>
              </a:rPr>
              <a:t>Sistema de Solicitudes al Área de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611880"/>
            <a:ext cx="3959352" cy="32004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A0"/>
                </a:solidFill>
              </a:rPr>
              <a:t>¡Gracias por su atención!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FF"/>
                </a:solidFill>
              </a:rPr>
              <a:t>Jaider Niño  ·  Juan Camilo Pinzón  ·  Wilson Forero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6126480"/>
            <a:ext cx="237744" cy="237744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61888" y="6126480"/>
            <a:ext cx="237744" cy="237744"/>
          </a:xfrm>
          <a:prstGeom prst="ellipse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45936" y="6126480"/>
            <a:ext cx="237744" cy="237744"/>
          </a:xfrm>
          <a:prstGeom prst="ellipse">
            <a:avLst/>
          </a:prstGeom>
          <a:solidFill>
            <a:srgbClr val="2F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1185</Words>
  <Application>Microsoft Office PowerPoint</Application>
  <PresentationFormat>Personalizado</PresentationFormat>
  <Paragraphs>176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 MCB</cp:lastModifiedBy>
  <cp:revision>2</cp:revision>
  <dcterms:created xsi:type="dcterms:W3CDTF">2013-01-27T09:14:16Z</dcterms:created>
  <dcterms:modified xsi:type="dcterms:W3CDTF">2026-09-05T02:42:55Z</dcterms:modified>
  <cp:category/>
</cp:coreProperties>
</file>